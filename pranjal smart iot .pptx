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14051652"/>
              </p:ext>
            </p:extLst>
          </p:nvPr>
        </p:nvGraphicFramePr>
        <p:xfrm>
          <a:off x="1299257" y="2600315"/>
          <a:ext cx="9394989" cy="1952020"/>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87663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075385">
                <a:tc>
                  <a:txBody>
                    <a:bodyPr/>
                    <a:lstStyle/>
                    <a:p>
                      <a:pPr marL="0" marR="0" lvl="0" indent="0" algn="l" rtl="0">
                        <a:spcBef>
                          <a:spcPts val="0"/>
                        </a:spcBef>
                        <a:spcAft>
                          <a:spcPts val="0"/>
                        </a:spcAft>
                        <a:buNone/>
                      </a:pPr>
                      <a:r>
                        <a:rPr lang="en-US" dirty="0"/>
                        <a:t>Pranjal Hingmire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pranjalhingmire@gmail.com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7498730874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Artificial Intelligence (AI) | Internet of Things (IoT) | Conversational AI | Retrieval-Augmented Generation (RAG)</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a:t>
            </a:r>
            <a:r>
              <a:rPr lang="en-US" sz="2400" b="1" dirty="0">
                <a:highlight>
                  <a:srgbClr val="FFFF00"/>
                </a:highlight>
              </a:rPr>
              <a:t>[</a:t>
            </a:r>
            <a:r>
              <a:rPr lang="en-IN" sz="2400" dirty="0">
                <a:highlight>
                  <a:srgbClr val="FFFF00"/>
                </a:highlight>
              </a:rPr>
              <a:t>Smart IoT Device Troubleshooting Chatbot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909310"/>
          </a:xfrm>
          <a:prstGeom prst="rect">
            <a:avLst/>
          </a:prstGeom>
          <a:noFill/>
        </p:spPr>
        <p:txBody>
          <a:bodyPr wrap="square" rtlCol="0">
            <a:spAutoFit/>
          </a:bodyPr>
          <a:lstStyle/>
          <a:p>
            <a:pPr fontAlgn="base"/>
            <a:endParaRPr lang="en-US" dirty="0"/>
          </a:p>
          <a:p>
            <a:pPr fontAlgn="base"/>
            <a:r>
              <a:rPr lang="en-IN" sz="1800" b="1" dirty="0"/>
              <a:t>The Challenge </a:t>
            </a:r>
          </a:p>
          <a:p>
            <a:pPr fontAlgn="base"/>
            <a:r>
              <a:rPr lang="en-IN" sz="2000" dirty="0"/>
              <a:t>IoT devices are widely used in smart homes, industries, and connected environments. However, users frequently encounter problems such as connectivity failures, configuration errors, firmware issues, and device compatibility challenges. Troubleshooting these problems often requires technical knowledge and the ability to interpret complex documentation. Many users depend on manuals, forums, or customer support, which can delay issue resolution. The challenge is to develop an intelligent assistant that can quickly diagnose IoT device problems and guide users through troubleshooting steps. The Objective Build a conversational AI chatbot that helps users identify and resolve IoT device issues through natural language interaction. The solution should: 1. Understand Device Issues :- Interpret user descriptions of IoT problems such as network connectivity failures, configuration errors, or device malfunctions. 2. Retrieve Relevant Knowledge :- Access IoT documentation and troubleshooting guides using a Retrieval-Augmented Generation (RAG) approach. 3. Provide Step-by-Step Solutions :- Generate clear instructions for resolving connectivity, configuration, or firmware issues. 4. Conversational Support :- Offer an interactive chatbot interface where users can ask questions and receive guidance in real time.</a:t>
            </a:r>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704088"/>
            <a:ext cx="10607039" cy="523220"/>
          </a:xfrm>
          <a:prstGeom prst="rect">
            <a:avLst/>
          </a:prstGeom>
          <a:noFill/>
        </p:spPr>
        <p:txBody>
          <a:bodyPr wrap="square" rtlCol="0">
            <a:spAutoFit/>
          </a:bodyPr>
          <a:lstStyle/>
          <a:p>
            <a:r>
              <a:rPr lang="en-US" sz="2800" b="1" dirty="0"/>
              <a:t>Problem Statement -</a:t>
            </a:r>
            <a:r>
              <a:rPr lang="en-IN" sz="2800" dirty="0"/>
              <a:t> Smart IoT Device Troubleshooting Chatbot</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924425"/>
          </a:xfrm>
          <a:prstGeom prst="rect">
            <a:avLst/>
          </a:prstGeom>
          <a:noFill/>
        </p:spPr>
        <p:txBody>
          <a:bodyPr wrap="square" rtlCol="0">
            <a:spAutoFit/>
          </a:bodyPr>
          <a:lstStyle/>
          <a:p>
            <a:pPr fontAlgn="base"/>
            <a:r>
              <a:rPr lang="en-IN" sz="2000" dirty="0"/>
              <a:t>Develop an AI-powered Smart IoT Device Troubleshooting Chatbot that understands user-reported issues through natural language, retrieves relevant troubleshooting information using a Retrieval-Augmented Generation (RAG) approach, and provides clear, step-by-step solutions. The chatbot offers real-time conversational assistance, enabling users to diagnose and resolve IoT device problems quickly and efficiently without requiring advanced technical knowledge</a:t>
            </a:r>
            <a:r>
              <a:rPr lang="en-IN" dirty="0"/>
              <a:t>.</a:t>
            </a:r>
          </a:p>
          <a:p>
            <a:r>
              <a:rPr lang="en-IN" sz="2000" dirty="0"/>
              <a:t>The system uses:</a:t>
            </a:r>
          </a:p>
          <a:p>
            <a:r>
              <a:rPr lang="en-IN" sz="2000" b="1" dirty="0"/>
              <a:t>Natural Language Processing (NLP)</a:t>
            </a:r>
            <a:r>
              <a:rPr lang="en-IN" sz="2000" dirty="0"/>
              <a:t> to understand user-reported problems.</a:t>
            </a:r>
          </a:p>
          <a:p>
            <a:r>
              <a:rPr lang="en-IN" sz="2000" b="1" dirty="0"/>
              <a:t>Retrieval-Augmented Generation (RAG)</a:t>
            </a:r>
            <a:r>
              <a:rPr lang="en-IN" sz="2000" dirty="0"/>
              <a:t> to retrieve relevant troubleshooting information from manuals, FAQs, and knowledge bases.</a:t>
            </a:r>
          </a:p>
          <a:p>
            <a:r>
              <a:rPr lang="en-IN" sz="2000" b="1" dirty="0"/>
              <a:t>AI-based reasoning</a:t>
            </a:r>
            <a:r>
              <a:rPr lang="en-IN" sz="2000" dirty="0"/>
              <a:t> to provide accurate, step-by-step solutions.</a:t>
            </a:r>
          </a:p>
          <a:p>
            <a:r>
              <a:rPr lang="en-IN" sz="2000" dirty="0"/>
              <a:t>The chatbot delivers instant and interactive support, reducing troubleshooting time, minimizing dependence on technical experts, and improving the reliability and usability of IoT devices.</a:t>
            </a:r>
          </a:p>
          <a:p>
            <a:pPr fontAlgn="base"/>
            <a:endParaRPr lang="en-US" sz="20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020195"/>
            <a:ext cx="10515600" cy="6586418"/>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IN" sz="2000" b="1" dirty="0"/>
              <a:t>Software &amp; AI Technologies</a:t>
            </a:r>
          </a:p>
          <a:p>
            <a:pPr lvl="1"/>
            <a:r>
              <a:rPr lang="en-IN" sz="2000" dirty="0"/>
              <a:t>          Python</a:t>
            </a:r>
          </a:p>
          <a:p>
            <a:pPr lvl="1"/>
            <a:r>
              <a:rPr lang="en-IN" sz="2000" dirty="0"/>
              <a:t>          Natural Language Processing (NLP)</a:t>
            </a:r>
          </a:p>
          <a:p>
            <a:pPr lvl="1"/>
            <a:r>
              <a:rPr lang="en-IN" sz="2000" dirty="0"/>
              <a:t>          Retrieval-Augmented Generation (RAG)</a:t>
            </a:r>
          </a:p>
          <a:p>
            <a:pPr lvl="1"/>
            <a:r>
              <a:rPr lang="en-IN" sz="2000" dirty="0"/>
              <a:t>          Large Language Models (LLMs)</a:t>
            </a:r>
          </a:p>
          <a:p>
            <a:pPr marL="342900" indent="-342900">
              <a:buFont typeface="Arial" panose="020B0604020202020204" pitchFamily="34" charset="0"/>
              <a:buChar char="•"/>
            </a:pPr>
            <a:r>
              <a:rPr lang="en-IN" sz="2000" b="1" dirty="0"/>
              <a:t>Frameworks &amp; Libraries</a:t>
            </a:r>
          </a:p>
          <a:p>
            <a:r>
              <a:rPr lang="en-IN" sz="2000" dirty="0"/>
              <a:t>          </a:t>
            </a:r>
            <a:r>
              <a:rPr lang="en-IN" sz="2000" dirty="0" err="1"/>
              <a:t>LangChain</a:t>
            </a:r>
            <a:endParaRPr lang="en-IN" sz="2000" dirty="0"/>
          </a:p>
          <a:p>
            <a:r>
              <a:rPr lang="en-IN" sz="2000" dirty="0"/>
              <a:t>          Sentence Transformers</a:t>
            </a:r>
          </a:p>
          <a:p>
            <a:r>
              <a:rPr lang="en-IN" sz="2000" dirty="0"/>
              <a:t>          Hugging Face Transformers</a:t>
            </a:r>
          </a:p>
          <a:p>
            <a:r>
              <a:rPr lang="en-IN" sz="2000" dirty="0"/>
              <a:t>          </a:t>
            </a:r>
            <a:r>
              <a:rPr lang="en-IN" sz="2000" dirty="0" err="1"/>
              <a:t>Streamlit</a:t>
            </a:r>
            <a:r>
              <a:rPr lang="en-IN" sz="2000" dirty="0"/>
              <a:t> / Flask for chatbot interface</a:t>
            </a:r>
          </a:p>
          <a:p>
            <a:pPr marL="342900" indent="-342900">
              <a:buFont typeface="Arial" panose="020B0604020202020204" pitchFamily="34" charset="0"/>
              <a:buChar char="•"/>
            </a:pPr>
            <a:r>
              <a:rPr lang="en-IN" sz="2000" b="1" dirty="0"/>
              <a:t>Database &amp; Knowledge Base</a:t>
            </a:r>
          </a:p>
          <a:p>
            <a:r>
              <a:rPr lang="en-IN" sz="2000" dirty="0"/>
              <a:t>           Vector Database (FAISS or </a:t>
            </a:r>
            <a:r>
              <a:rPr lang="en-IN" sz="2000" dirty="0" err="1"/>
              <a:t>ChromaDB</a:t>
            </a:r>
            <a:r>
              <a:rPr lang="en-IN" sz="2000" dirty="0"/>
              <a:t>)</a:t>
            </a:r>
          </a:p>
          <a:p>
            <a:r>
              <a:rPr lang="en-IN" sz="2000" dirty="0"/>
              <a:t>          Device manuals, FAQs, and troubleshooting documents</a:t>
            </a:r>
          </a:p>
          <a:p>
            <a:pPr marL="342900" indent="-342900">
              <a:buFont typeface="Arial" panose="020B0604020202020204" pitchFamily="34" charset="0"/>
              <a:buChar char="•"/>
            </a:pPr>
            <a:r>
              <a:rPr lang="en-IN" sz="2000" b="1" dirty="0"/>
              <a:t>Cloud &amp; Communication</a:t>
            </a:r>
          </a:p>
          <a:p>
            <a:r>
              <a:rPr lang="en-IN" sz="2000" dirty="0"/>
              <a:t>       MQTT Protocol</a:t>
            </a:r>
          </a:p>
          <a:p>
            <a:r>
              <a:rPr lang="en-IN" sz="2000" dirty="0"/>
              <a:t>       REST APIs</a:t>
            </a:r>
          </a:p>
          <a:p>
            <a:r>
              <a:rPr lang="en-IN" sz="2000" dirty="0"/>
              <a:t>       Cloud Platform (AWS, Azure, or Google Cloud)</a:t>
            </a:r>
          </a:p>
          <a:p>
            <a:endParaRPr lang="en-IN"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r>
              <a:rPr lang="en-IN" dirty="0"/>
              <a:t>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632859"/>
          </a:xfrm>
          <a:prstGeom prst="rect">
            <a:avLst/>
          </a:prstGeom>
          <a:noFill/>
        </p:spPr>
        <p:txBody>
          <a:bodyPr wrap="square" rtlCol="0">
            <a:spAutoFit/>
          </a:bodyPr>
          <a:lstStyle/>
          <a:p>
            <a:endParaRPr lang="en-US" dirty="0"/>
          </a:p>
          <a:p>
            <a:r>
              <a:rPr lang="en-IN" b="1" dirty="0" err="1"/>
              <a:t>Langflow</a:t>
            </a:r>
            <a:r>
              <a:rPr lang="en-IN" b="1" dirty="0"/>
              <a:t> Components Used</a:t>
            </a:r>
          </a:p>
          <a:p>
            <a:r>
              <a:rPr lang="en-IN" b="1" dirty="0"/>
              <a:t>1) Chat Input</a:t>
            </a:r>
          </a:p>
          <a:p>
            <a:r>
              <a:rPr lang="en-IN" dirty="0"/>
              <a:t>Interface where users describe IoT device issues such as connectivity failures, configuration errors, firmware update problems, or compatibility issues using natural language.</a:t>
            </a:r>
          </a:p>
          <a:p>
            <a:r>
              <a:rPr lang="en-IN" b="1" dirty="0"/>
              <a:t>2) IBM </a:t>
            </a:r>
            <a:r>
              <a:rPr lang="en-IN" b="1" dirty="0" err="1"/>
              <a:t>watsonx</a:t>
            </a:r>
            <a:r>
              <a:rPr lang="en-IN" b="1" dirty="0"/>
              <a:t> AI Agent</a:t>
            </a:r>
          </a:p>
          <a:p>
            <a:r>
              <a:rPr lang="en-IN" dirty="0"/>
              <a:t>Processes user queries, understands the reported problem, and coordinates the troubleshooting workflow using AI reasoning and knowledge retrieval.</a:t>
            </a:r>
          </a:p>
          <a:p>
            <a:r>
              <a:rPr lang="en-IN" b="1" dirty="0"/>
              <a:t>3) IBM Granite Model</a:t>
            </a:r>
          </a:p>
          <a:p>
            <a:r>
              <a:rPr lang="en-IN" b="1" dirty="0"/>
              <a:t>Granite-4.0-8B-Instruct</a:t>
            </a:r>
            <a:r>
              <a:rPr lang="en-IN" dirty="0"/>
              <a:t> → Generates accurate and context-aware troubleshooting responses and provides real-time step-by-step guidance for resolving IoT device issues.</a:t>
            </a:r>
          </a:p>
          <a:p>
            <a:r>
              <a:rPr lang="en-IN" b="1" dirty="0"/>
              <a:t>4) Chat Output</a:t>
            </a:r>
          </a:p>
          <a:p>
            <a:r>
              <a:rPr lang="en-IN" dirty="0"/>
              <a:t>Displays AI-generated troubleshooting instructions, diagnostic recommendations, configuration steps, and possible solutions to the user.</a:t>
            </a:r>
          </a:p>
          <a:p>
            <a:r>
              <a:rPr lang="en-IN" b="1" dirty="0"/>
              <a:t>5) File Component</a:t>
            </a:r>
          </a:p>
          <a:p>
            <a:r>
              <a:rPr lang="en-IN" dirty="0"/>
              <a:t>Stores and retrieves IoT device manuals, troubleshooting guides, FAQs, firmware documentation, and historical issue logs used by the RAG pipeline.</a:t>
            </a:r>
          </a:p>
          <a:p>
            <a:r>
              <a:rPr lang="en-IN" b="1" dirty="0"/>
              <a:t>6) Vector Store (FAISS / </a:t>
            </a:r>
            <a:r>
              <a:rPr lang="en-IN" b="1" dirty="0" err="1"/>
              <a:t>ChromaDB</a:t>
            </a:r>
            <a:r>
              <a:rPr lang="en-IN" b="1" dirty="0"/>
              <a:t>)</a:t>
            </a:r>
          </a:p>
          <a:p>
            <a:r>
              <a:rPr lang="en-IN" dirty="0"/>
              <a:t>Converts and stores document embeddings to enable fast and relevant retrieval of troubleshooting information during user interactions.</a:t>
            </a:r>
          </a:p>
          <a:p>
            <a:r>
              <a:rPr lang="en-IN" b="1" dirty="0"/>
              <a:t>7) Embedding Model</a:t>
            </a:r>
          </a:p>
          <a:p>
            <a:r>
              <a:rPr lang="en-IN" dirty="0"/>
              <a:t>Transforms device manuals and support documents into vector embeddings for semantic search and efficient knowledge retrieval.</a:t>
            </a:r>
          </a:p>
          <a:p>
            <a:r>
              <a:rPr lang="en-IN" b="1" dirty="0"/>
              <a:t>8) RAG Pipeline Component</a:t>
            </a:r>
          </a:p>
          <a:p>
            <a:r>
              <a:rPr lang="en-IN" dirty="0"/>
              <a:t>Combines retrieved troubleshooting information with the AI model to generate accurate, context-aware, and explainable responses.</a:t>
            </a:r>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167493"/>
            <a:ext cx="7406640" cy="6155531"/>
          </a:xfrm>
          <a:prstGeom prst="rect">
            <a:avLst/>
          </a:prstGeom>
          <a:noFill/>
        </p:spPr>
        <p:txBody>
          <a:bodyPr wrap="square" rtlCol="0">
            <a:spAutoFit/>
          </a:bodyPr>
          <a:lstStyle/>
          <a:p>
            <a:r>
              <a:rPr lang="en-IN" sz="2000" b="1" dirty="0"/>
              <a:t>Chatbot</a:t>
            </a:r>
          </a:p>
          <a:p>
            <a:r>
              <a:rPr lang="en-IN" sz="2000" dirty="0"/>
              <a:t>Agentic AI enables the Smart IoT Device Troubleshooting Chatbot to function as an intelligent, autonomous support system rather than a simple question-answer chatbot. Using IBM watsonx.ai and IBM Granite models, it coordinates multiple specialized agents to diagnose and resolve IoT device issues efficiently.</a:t>
            </a:r>
          </a:p>
          <a:p>
            <a:r>
              <a:rPr lang="en-IN" sz="2000" dirty="0"/>
              <a:t>Each agent performs a specific task, such as understanding user-reported problems, retrieving relevant troubleshooting information, </a:t>
            </a:r>
            <a:r>
              <a:rPr lang="en-IN" sz="2000" dirty="0" err="1"/>
              <a:t>analyzing</a:t>
            </a:r>
            <a:r>
              <a:rPr lang="en-IN" sz="2000" dirty="0"/>
              <a:t> device logs and error messages, identifying possible root causes, and generating step-by-step solutions. These agents work collaboratively to provide accurate and effective assistance.</a:t>
            </a:r>
          </a:p>
          <a:p>
            <a:r>
              <a:rPr lang="en-IN" sz="2000" dirty="0"/>
              <a:t>Agentic AI also provides context awareness by understanding details such as device type, firmware version, network status, and previous troubleshooting attempts  communicate with each other to improve decision-making and ensure comprehensive problem resolution.</a:t>
            </a:r>
          </a:p>
          <a:p>
            <a:endParaRPr lang="en-IN" sz="2000"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10091" y="357235"/>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32092"/>
          </a:xfrm>
          <a:prstGeom prst="rect">
            <a:avLst/>
          </a:prstGeom>
          <a:noFill/>
        </p:spPr>
        <p:txBody>
          <a:bodyPr wrap="square" rtlCol="0">
            <a:spAutoFit/>
          </a:bodyPr>
          <a:lstStyle/>
          <a:p>
            <a:endParaRPr lang="en-IN" b="1" dirty="0"/>
          </a:p>
          <a:p>
            <a:r>
              <a:rPr lang="en-IN" sz="2000" dirty="0"/>
              <a:t>Combines </a:t>
            </a:r>
            <a:r>
              <a:rPr lang="en-IN" sz="2000" b="1" dirty="0"/>
              <a:t>Artificial Intelligence, IoT, Natural Language Processing (NLP), and Retrieval-Augmented Generation (RAG)</a:t>
            </a:r>
            <a:r>
              <a:rPr lang="en-IN" sz="2000" dirty="0"/>
              <a:t> into a single intelligent troubleshooting platform.</a:t>
            </a:r>
          </a:p>
          <a:p>
            <a:r>
              <a:rPr lang="en-IN" sz="2000" dirty="0"/>
              <a:t>Uses </a:t>
            </a:r>
            <a:r>
              <a:rPr lang="en-IN" sz="2000" b="1" dirty="0"/>
              <a:t>Agentic AI architecture</a:t>
            </a:r>
            <a:r>
              <a:rPr lang="en-IN" sz="2000" dirty="0"/>
              <a:t> to autonomously </a:t>
            </a:r>
            <a:r>
              <a:rPr lang="en-IN" sz="2000" dirty="0" err="1"/>
              <a:t>analyze</a:t>
            </a:r>
            <a:r>
              <a:rPr lang="en-IN" sz="2000" dirty="0"/>
              <a:t> issues, retrieve relevant knowledge, and provide personalized troubleshooting guidance.</a:t>
            </a:r>
          </a:p>
          <a:p>
            <a:r>
              <a:rPr lang="en-IN" sz="2000" dirty="0"/>
              <a:t>Enables users to interact using </a:t>
            </a:r>
            <a:r>
              <a:rPr lang="en-IN" sz="2000" b="1" dirty="0"/>
              <a:t>natural language</a:t>
            </a:r>
            <a:r>
              <a:rPr lang="en-IN" sz="2000" dirty="0"/>
              <a:t>, eliminating the need for technical expertise or manual troubleshooting.</a:t>
            </a:r>
          </a:p>
          <a:p>
            <a:r>
              <a:rPr lang="en-IN" sz="2000" dirty="0"/>
              <a:t>Provides </a:t>
            </a:r>
            <a:r>
              <a:rPr lang="en-IN" sz="2000" b="1" dirty="0"/>
              <a:t>context-aware recommendations</a:t>
            </a:r>
            <a:r>
              <a:rPr lang="en-IN" sz="2000" dirty="0"/>
              <a:t> based on device type, firmware version, network status, and error symptoms.</a:t>
            </a:r>
          </a:p>
          <a:p>
            <a:r>
              <a:rPr lang="en-IN" sz="2000" dirty="0"/>
              <a:t>Supports troubleshooting across </a:t>
            </a:r>
            <a:r>
              <a:rPr lang="en-IN" sz="2000" b="1" dirty="0"/>
              <a:t>multiple IoT devices and manufacturers</a:t>
            </a:r>
            <a:r>
              <a:rPr lang="en-IN" sz="2000" dirty="0"/>
              <a:t>, unlike traditional vendor-specific support systems.</a:t>
            </a:r>
          </a:p>
          <a:p>
            <a:r>
              <a:rPr lang="en-IN" sz="2000" dirty="0"/>
              <a:t>Uses </a:t>
            </a:r>
            <a:r>
              <a:rPr lang="en-IN" sz="2000" b="1" dirty="0"/>
              <a:t>RAG-based knowledge retrieval</a:t>
            </a:r>
            <a:r>
              <a:rPr lang="en-IN" sz="2000" dirty="0"/>
              <a:t> from manuals, FAQs, and technical documentation to ensure accurate and up-to-date solutions.</a:t>
            </a:r>
          </a:p>
          <a:p>
            <a:r>
              <a:rPr lang="en-IN" sz="2000" dirty="0"/>
              <a:t>Offers </a:t>
            </a:r>
            <a:r>
              <a:rPr lang="en-IN" sz="2000" b="1" dirty="0"/>
              <a:t>real-time conversational assistance</a:t>
            </a:r>
            <a:r>
              <a:rPr lang="en-IN" sz="2000" dirty="0"/>
              <a:t>, significantly reducing device downtime and support dependency.</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22C97070-0546-69A6-CEAA-3C0F83EE06AA}"/>
              </a:ext>
            </a:extLst>
          </p:cNvPr>
          <p:cNvSpPr txBox="1"/>
          <p:nvPr/>
        </p:nvSpPr>
        <p:spPr>
          <a:xfrm>
            <a:off x="1218724" y="1396181"/>
            <a:ext cx="9911392" cy="4616648"/>
          </a:xfrm>
          <a:prstGeom prst="rect">
            <a:avLst/>
          </a:prstGeom>
          <a:noFill/>
        </p:spPr>
        <p:txBody>
          <a:bodyPr wrap="square" rtlCol="0">
            <a:spAutoFit/>
          </a:bodyPr>
          <a:lstStyle/>
          <a:p>
            <a:r>
              <a:rPr lang="en-IN" sz="2000" b="1" dirty="0"/>
              <a:t>Future Scope</a:t>
            </a:r>
          </a:p>
          <a:p>
            <a:r>
              <a:rPr lang="en-IN" sz="2000" b="1" dirty="0"/>
              <a:t>1. Integration with Real-Time Device Monitoring</a:t>
            </a:r>
          </a:p>
          <a:p>
            <a:r>
              <a:rPr lang="en-IN" sz="2000" dirty="0"/>
              <a:t>The system can be integrated with IoT devices to collect real-time diagnostic information such as network status, sensor readings, error logs, battery levels, and device health metrics. This will enable the chatbot to proactively detect issues and provide more accurate troubleshooting recommendations.</a:t>
            </a:r>
          </a:p>
          <a:p>
            <a:r>
              <a:rPr lang="en-IN" sz="2000" b="1" dirty="0"/>
              <a:t>2. Predictive Maintenance using AI</a:t>
            </a:r>
          </a:p>
          <a:p>
            <a:r>
              <a:rPr lang="en-IN" sz="2000" dirty="0"/>
              <a:t>By </a:t>
            </a:r>
            <a:r>
              <a:rPr lang="en-IN" sz="2000" dirty="0" err="1"/>
              <a:t>analyzing</a:t>
            </a:r>
            <a:r>
              <a:rPr lang="en-IN" sz="2000" dirty="0"/>
              <a:t> historical device data and usage patterns, the system can predict potential failures before they occur and notify users to perform preventive maintenance, reducing downtime and improving reliability.</a:t>
            </a:r>
          </a:p>
          <a:p>
            <a:r>
              <a:rPr lang="en-IN" sz="2000" b="1" dirty="0"/>
              <a:t>3. Voice Assistant and Multilingual Support</a:t>
            </a:r>
          </a:p>
          <a:p>
            <a:r>
              <a:rPr lang="en-IN" sz="2000" dirty="0"/>
              <a:t>Adding voice interaction and support for multiple languages will make the chatbot more accessible and user-friendly. Users will be able to report issues and receive troubleshooting guidance in their preferred language.</a:t>
            </a:r>
          </a:p>
          <a:p>
            <a:endParaRPr lang="en-IN" dirty="0"/>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8" name="Picture 7">
            <a:extLst>
              <a:ext uri="{FF2B5EF4-FFF2-40B4-BE49-F238E27FC236}">
                <a16:creationId xmlns:a16="http://schemas.microsoft.com/office/drawing/2014/main" id="{840B734F-9D8F-DA16-F0EA-9786712F97D5}"/>
              </a:ext>
            </a:extLst>
          </p:cNvPr>
          <p:cNvPicPr>
            <a:picLocks noChangeAspect="1"/>
          </p:cNvPicPr>
          <p:nvPr/>
        </p:nvPicPr>
        <p:blipFill>
          <a:blip r:embed="rId2"/>
          <a:stretch>
            <a:fillRect/>
          </a:stretch>
        </p:blipFill>
        <p:spPr>
          <a:xfrm>
            <a:off x="2106584" y="1297858"/>
            <a:ext cx="7978831" cy="520607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2B9C40B-9B72-2B15-0328-886C93DDD8C8}"/>
              </a:ext>
            </a:extLst>
          </p:cNvPr>
          <p:cNvPicPr>
            <a:picLocks noChangeAspect="1"/>
          </p:cNvPicPr>
          <p:nvPr/>
        </p:nvPicPr>
        <p:blipFill>
          <a:blip r:embed="rId2"/>
          <a:stretch>
            <a:fillRect/>
          </a:stretch>
        </p:blipFill>
        <p:spPr>
          <a:xfrm>
            <a:off x="2391001" y="1333532"/>
            <a:ext cx="7567316" cy="493818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1184</Words>
  <Application>Microsoft Office PowerPoint</Application>
  <PresentationFormat>Widescreen</PresentationFormat>
  <Paragraphs>109</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PRANJAL HINGMIRE</cp:lastModifiedBy>
  <cp:revision>16</cp:revision>
  <dcterms:created xsi:type="dcterms:W3CDTF">2025-07-08T05:06:56Z</dcterms:created>
  <dcterms:modified xsi:type="dcterms:W3CDTF">2026-07-17T13:38:43Z</dcterms:modified>
</cp:coreProperties>
</file>